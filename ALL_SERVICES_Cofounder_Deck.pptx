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 market size ($M)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FY25</c:v>
                  </c:pt>
                  <c:pt idx="1">
                    <c:v>FY30E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475</c:v>
                </c:pt>
                <c:pt idx="1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image" Target="../media/image-8-1.png"/><Relationship Id="rId8" Type="http://schemas.openxmlformats.org/officeDocument/2006/relationships/image" Target="../media/image-8-1.png"/><Relationship Id="rId9" Type="http://schemas.openxmlformats.org/officeDocument/2006/relationships/image" Target="../media/image-8-1.png"/><Relationship Id="rId10" Type="http://schemas.openxmlformats.org/officeDocument/2006/relationships/image" Target="../media/image-8-1.png"/><Relationship Id="rId11" Type="http://schemas.openxmlformats.org/officeDocument/2006/relationships/image" Target="../media/image-8-1.png"/><Relationship Id="rId12" Type="http://schemas.openxmlformats.org/officeDocument/2006/relationships/image" Target="../media/image-8-1.png"/><Relationship Id="rId13" Type="http://schemas.openxmlformats.org/officeDocument/2006/relationships/image" Target="../media/image-8-1.png"/><Relationship Id="rId14" Type="http://schemas.openxmlformats.org/officeDocument/2006/relationships/image" Target="../media/image-8-1.png"/><Relationship Id="rId15" Type="http://schemas.openxmlformats.org/officeDocument/2006/relationships/image" Target="../media/image-8-1.png"/><Relationship Id="rId16" Type="http://schemas.openxmlformats.org/officeDocument/2006/relationships/image" Target="../media/image-8-1.png"/><Relationship Id="rId17" Type="http://schemas.openxmlformats.org/officeDocument/2006/relationships/image" Target="../media/image-8-1.png"/><Relationship Id="rId18" Type="http://schemas.openxmlformats.org/officeDocument/2006/relationships/image" Target="../media/image-8-1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5.png"/><Relationship Id="rId6" Type="http://schemas.openxmlformats.org/officeDocument/2006/relationships/image" Target="../media/image-10-5.png"/><Relationship Id="rId7" Type="http://schemas.openxmlformats.org/officeDocument/2006/relationships/image" Target="../media/image-10-5.png"/><Relationship Id="rId8" Type="http://schemas.openxmlformats.org/officeDocument/2006/relationships/image" Target="../media/image-10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PAN-INDIA ON-DEMAND SERVICES PLATFORM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SERVICES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Every professional you need — a driver, a barber, an electrician,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carpenter, a lawyer, or a helping hand — verified, and at your doorstep.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7" name="Image 0" descr="/home/claude/allservices/icons/car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457657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074920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06040" y="4434840"/>
            <a:ext cx="566928" cy="566928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10" name="Image 1" descr="/home/claude/allservices/icons/cut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772" y="457657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86000" y="5074920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Barber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89120" y="4434840"/>
            <a:ext cx="566928" cy="566928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13" name="Image 2" descr="/home/claude/allservices/icons/hammer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457657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69080" y="5074920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Carpenters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172200" y="4434840"/>
            <a:ext cx="566928" cy="566928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16" name="Image 3" descr="/home/claude/allservices/icons/bolt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932" y="4576572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52160" y="5074920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Electricians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7955280" y="4434840"/>
            <a:ext cx="566928" cy="566928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19" name="Image 4" descr="/home/claude/allservices/icons/balance_cor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012" y="4576572"/>
            <a:ext cx="283464" cy="28346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635240" y="5074920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9738360" y="4434840"/>
            <a:ext cx="566928" cy="566928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22" name="Image 5" descr="/home/claude/allservices/icons/users_cor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0092" y="4576572"/>
            <a:ext cx="283464" cy="28346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418320" y="5074920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Labour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2C3E5D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a Technical Co-Founder to build this from the ground up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10972800" y="6126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Trusted, on-demand help is still hard to find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8640" cy="548640"/>
          </a:xfrm>
          <a:prstGeom prst="ellipse">
            <a:avLst/>
          </a:prstGeom>
          <a:solidFill>
            <a:srgbClr val="FDECE7"/>
          </a:solidFill>
          <a:ln/>
        </p:spPr>
      </p:sp>
      <p:pic>
        <p:nvPicPr>
          <p:cNvPr id="5" name="Image 0" descr="/home/claude/allservices/icons/warning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208940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20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driver when you need one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22860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wedding, an airport run, a business trip — car owners often can't find a reliable driver for just a few hours.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35040" y="1965960"/>
            <a:ext cx="548640" cy="548640"/>
          </a:xfrm>
          <a:prstGeom prst="ellipse">
            <a:avLst/>
          </a:prstGeom>
          <a:solidFill>
            <a:srgbClr val="FDECE7"/>
          </a:solidFill>
          <a:ln/>
        </p:spPr>
      </p:sp>
      <p:pic>
        <p:nvPicPr>
          <p:cNvPr id="9" name="Image 1" descr="/home/claude/allservices/icons/warning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484" y="208940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0" y="1920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Grooming means travel &amp; waiting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766560" y="22860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simple way to get a professional haircut at home, the way barbers once made house calls.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rgbClr val="FDECE7"/>
          </a:solidFill>
          <a:ln/>
        </p:spPr>
      </p:sp>
      <p:pic>
        <p:nvPicPr>
          <p:cNvPr id="13" name="Image 2" descr="/home/claude/allservices/icons/warning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6438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474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help is scattered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384048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Carpenters, electricians, daily labour, and legal help are found through word-of-mouth or unverified local listings.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035040" y="3520440"/>
            <a:ext cx="548640" cy="548640"/>
          </a:xfrm>
          <a:prstGeom prst="ellipse">
            <a:avLst/>
          </a:prstGeom>
          <a:solidFill>
            <a:srgbClr val="FDECE7"/>
          </a:solidFill>
          <a:ln/>
        </p:spPr>
      </p:sp>
      <p:pic>
        <p:nvPicPr>
          <p:cNvPr id="17" name="Image 3" descr="/home/claude/allservices/icons/warning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484" y="364388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0" y="3474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missing layer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766560" y="384048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lets you discover, verify, book, track and pay for all of this in one place.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trusted app for every on-demand professional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5" name="Image 0" descr="/home/claude/allservices/icons/shield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226199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09397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&amp; background-checked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34440" y="244144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driver, barber, tradesperson and professional is ID-verified before they go live.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9" name="Image 1" descr="/home/claude/allservices/icons/mobile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" y="3222117"/>
            <a:ext cx="276606" cy="2766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05409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by the hour or by the job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34440" y="340156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 driver for 3 hours, or a carpenter for one repair — flexible, on-demand booking.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13" name="Image 2" descr="/home/claude/allservices/icons/search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4182237"/>
            <a:ext cx="276606" cy="2766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01421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Nearest-match, real-time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34440" y="436168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matching connects you to the closest available verified professional.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17" name="Image 3" descr="/home/claude/allservices/icons/wallet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5142357"/>
            <a:ext cx="276606" cy="27660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97433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Cashless, rated, accountable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34440" y="532180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payments, live tracking and two-way ratings build accountability into every booking.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498080" y="1371600"/>
            <a:ext cx="3566160" cy="4937760"/>
          </a:xfrm>
          <a:prstGeom prst="roundRect">
            <a:avLst>
              <a:gd name="adj" fmla="val 6410"/>
            </a:avLst>
          </a:prstGeom>
          <a:solidFill>
            <a:srgbClr val="1F3050"/>
          </a:solidFill>
          <a:ln w="19050">
            <a:solidFill>
              <a:srgbClr val="33456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26680" y="1691640"/>
            <a:ext cx="3108960" cy="4297680"/>
          </a:xfrm>
          <a:prstGeom prst="roundRect">
            <a:avLst>
              <a:gd name="adj" fmla="val 4412"/>
            </a:avLst>
          </a:prstGeom>
          <a:solidFill>
            <a:srgbClr val="F7F8FA"/>
          </a:solidFill>
          <a:ln/>
        </p:spPr>
      </p:sp>
      <p:sp>
        <p:nvSpPr>
          <p:cNvPr id="22" name="Text 16"/>
          <p:cNvSpPr/>
          <p:nvPr/>
        </p:nvSpPr>
        <p:spPr>
          <a:xfrm>
            <a:off x="772668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SERVICES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863840" y="233172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955280" y="2414016"/>
            <a:ext cx="329184" cy="329184"/>
          </a:xfrm>
          <a:prstGeom prst="ellipse">
            <a:avLst/>
          </a:prstGeom>
          <a:solidFill>
            <a:srgbClr val="FDECE7"/>
          </a:solidFill>
          <a:ln/>
        </p:spPr>
      </p:sp>
      <p:pic>
        <p:nvPicPr>
          <p:cNvPr id="25" name="Image 4" descr="/home/claude/allservices/icons/car_cor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346" y="2488082"/>
            <a:ext cx="181051" cy="18105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36676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Driver, 3 hrs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7863840" y="2953512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955280" y="3035808"/>
            <a:ext cx="329184" cy="329184"/>
          </a:xfrm>
          <a:prstGeom prst="ellipse">
            <a:avLst/>
          </a:prstGeom>
          <a:solidFill>
            <a:srgbClr val="FDECE7"/>
          </a:solidFill>
          <a:ln/>
        </p:spPr>
      </p:sp>
      <p:pic>
        <p:nvPicPr>
          <p:cNvPr id="29" name="Image 5" descr="/home/claude/allservices/icons/cut_cor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9346" y="3109874"/>
            <a:ext cx="181051" cy="181051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366760" y="29535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Barber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7863840" y="3575304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955280" y="3657600"/>
            <a:ext cx="329184" cy="329184"/>
          </a:xfrm>
          <a:prstGeom prst="ellipse">
            <a:avLst/>
          </a:prstGeom>
          <a:solidFill>
            <a:srgbClr val="FDECE7"/>
          </a:solidFill>
          <a:ln/>
        </p:spPr>
      </p:sp>
      <p:pic>
        <p:nvPicPr>
          <p:cNvPr id="33" name="Image 6" descr="/home/claude/allservices/icons/hammer_cor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9346" y="3731666"/>
            <a:ext cx="181051" cy="18105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66760" y="35753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Carpenter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7863840" y="4197096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7955280" y="4279392"/>
            <a:ext cx="329184" cy="329184"/>
          </a:xfrm>
          <a:prstGeom prst="ellipse">
            <a:avLst/>
          </a:prstGeom>
          <a:solidFill>
            <a:srgbClr val="FDECE7"/>
          </a:solidFill>
          <a:ln/>
        </p:spPr>
      </p:sp>
      <p:pic>
        <p:nvPicPr>
          <p:cNvPr id="37" name="Image 7" descr="/home/claude/allservices/icons/bolt_cor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9346" y="4353458"/>
            <a:ext cx="181051" cy="181051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366760" y="419709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Electrician</a:t>
            </a:r>
            <a:endParaRPr lang="en-US" sz="1150" dirty="0"/>
          </a:p>
        </p:txBody>
      </p:sp>
      <p:sp>
        <p:nvSpPr>
          <p:cNvPr id="39" name="Shape 29"/>
          <p:cNvSpPr/>
          <p:nvPr/>
        </p:nvSpPr>
        <p:spPr>
          <a:xfrm>
            <a:off x="7863840" y="4818888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7955280" y="4901184"/>
            <a:ext cx="329184" cy="329184"/>
          </a:xfrm>
          <a:prstGeom prst="ellipse">
            <a:avLst/>
          </a:prstGeom>
          <a:solidFill>
            <a:srgbClr val="FDECE7"/>
          </a:solidFill>
          <a:ln/>
        </p:spPr>
      </p:sp>
      <p:pic>
        <p:nvPicPr>
          <p:cNvPr id="41" name="Image 8" descr="/home/claude/allservices/icons/balance_cor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9346" y="4975250"/>
            <a:ext cx="181051" cy="181051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8366760" y="48188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1150" dirty="0"/>
          </a:p>
        </p:txBody>
      </p:sp>
      <p:sp>
        <p:nvSpPr>
          <p:cNvPr id="43" name="Shape 32"/>
          <p:cNvSpPr/>
          <p:nvPr/>
        </p:nvSpPr>
        <p:spPr>
          <a:xfrm>
            <a:off x="7863840" y="544068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7955280" y="5522976"/>
            <a:ext cx="329184" cy="329184"/>
          </a:xfrm>
          <a:prstGeom prst="ellipse">
            <a:avLst/>
          </a:prstGeom>
          <a:solidFill>
            <a:srgbClr val="FDECE7"/>
          </a:solidFill>
          <a:ln/>
        </p:spPr>
      </p:sp>
      <p:pic>
        <p:nvPicPr>
          <p:cNvPr id="45" name="Image 9" descr="/home/claude/allservices/icons/users_cor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9346" y="5597042"/>
            <a:ext cx="181051" cy="181051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8366760" y="5440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Labour</a:t>
            </a:r>
            <a:endParaRPr lang="en-US" sz="1150" dirty="0"/>
          </a:p>
        </p:txBody>
      </p:sp>
      <p:sp>
        <p:nvSpPr>
          <p:cNvPr id="47" name="Text 3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</a:t>
            </a:r>
            <a:endParaRPr lang="en-US" sz="900" dirty="0"/>
          </a:p>
        </p:txBody>
      </p:sp>
      <p:sp>
        <p:nvSpPr>
          <p:cNvPr id="48" name="Text 3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OFFER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categories at launch, one growing platform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7F8FA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allservices/icons/ca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19" y="209351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Drivers-on-Hire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drivers by the hour for personal cars — trips, events, or when you simply can't drive.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7F8FA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9659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allservices/icons/cu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99" y="209351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651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Barber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2971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haircuts, grooming &amp; styling delivered to your doorstep, like the barbers of old.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7F8FA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03920" y="19659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allservices/icons/hammer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479" y="2093519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651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Carpenters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03920" y="29718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repair, fittings &amp; custom woodwork from verified carpenters, on demand.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7F8FA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3891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allservices/icons/bol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19" y="4516679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074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Electricians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5394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electricians for repairs, installations and emergencies, dispatched fast.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41148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7F8FA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63440" y="43891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allservices/icons/balance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999" y="4516679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5074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63440" y="5394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legal consultation, documentation &amp; notarization from vetted professionals.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29600" y="41148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7F8FA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503920" y="43891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/home/claude/allservices/icons/users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479" y="4516679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03920" y="5074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Labour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503920" y="5394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labour for moving, loading, event setup and short-term skilled work.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playbook designed to expand — cleaning, pet care, tutoring &amp; more to follow.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in minutes. A verified pro arrives.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840230" y="2697480"/>
            <a:ext cx="7749540" cy="0"/>
          </a:xfrm>
          <a:prstGeom prst="line">
            <a:avLst/>
          </a:prstGeom>
          <a:noFill/>
          <a:ln w="25400">
            <a:solidFill>
              <a:srgbClr val="E7EAEF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428750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allservices/icons/mob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490" y="249174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977390" y="2176272"/>
            <a:ext cx="310896" cy="310896"/>
          </a:xfrm>
          <a:prstGeom prst="ellipse">
            <a:avLst/>
          </a:prstGeom>
          <a:solidFill>
            <a:srgbClr val="FF6B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77390" y="2167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291840"/>
            <a:ext cx="23088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service &amp; time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749040"/>
            <a:ext cx="23088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category — driver, barber, electrician &amp; more — and the time you need it.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011930" y="228600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home/claude/allservices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670" y="2491740"/>
            <a:ext cx="411480" cy="411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60570" y="2176272"/>
            <a:ext cx="310896" cy="310896"/>
          </a:xfrm>
          <a:prstGeom prst="ellipse">
            <a:avLst/>
          </a:prstGeom>
          <a:solidFill>
            <a:srgbClr val="FF6B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60570" y="2167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68980" y="3291840"/>
            <a:ext cx="23088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matched instantly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68980" y="3749040"/>
            <a:ext cx="23088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matches you to the nearest available verified professional.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595110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allservices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2491740"/>
            <a:ext cx="411480" cy="4114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143750" y="2176272"/>
            <a:ext cx="310896" cy="310896"/>
          </a:xfrm>
          <a:prstGeom prst="ellipse">
            <a:avLst/>
          </a:prstGeom>
          <a:solidFill>
            <a:srgbClr val="FF6B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143750" y="2167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852160" y="3291840"/>
            <a:ext cx="23088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communicate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852160" y="3749040"/>
            <a:ext cx="23088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tracking and in-app chat, just like a delivery you can trust.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178290" y="228600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3" descr="/home/claude/allservices/icons/wall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030" y="2491740"/>
            <a:ext cx="411480" cy="41148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726930" y="2176272"/>
            <a:ext cx="310896" cy="310896"/>
          </a:xfrm>
          <a:prstGeom prst="ellipse">
            <a:avLst/>
          </a:prstGeom>
          <a:solidFill>
            <a:srgbClr val="FF6B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726930" y="2167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435340" y="3291840"/>
            <a:ext cx="23088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rate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435340" y="3749040"/>
            <a:ext cx="23088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Cashless in-app payment, then rate the professional to keep quality high.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massive, underpenetrated market — right now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$57–59B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total home &amp; personal-services market, FY25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60520" y="16916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288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43400" y="25146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that market is transacted online today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6916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18288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955280" y="25146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projected for the online segment through FY30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online home-services market ($ million)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3611880"/>
          <a:ext cx="55778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6446520" y="3611880"/>
            <a:ext cx="5166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personal services overall is worth Rs 5.1–5.2 lakh crore (~$57–59B) but remains largely unorganised.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Indian cities drive ~90% of online demand today — leaving Tier II/III largely untapped.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II/III cities already contributed ~35% of new users on leading service platforms in 2024.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"Instant home services" — urgent, on-demand bookings — is emerging as the next growth wave, mirroring quick-commerce.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Redseer Strategy Consultants via IBEF (Sept 2025); IMARC Group India Home Services report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revenue streams from day 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1965960"/>
          </a:xfrm>
          <a:prstGeom prst="roundRect">
            <a:avLst>
              <a:gd name="adj" fmla="val 5581"/>
            </a:avLst>
          </a:prstGeom>
          <a:solidFill>
            <a:srgbClr val="F7F8FA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allservices/icons/wallet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per booking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15–25% take rate on every booking across all six categories.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1691640"/>
            <a:ext cx="5029200" cy="1965960"/>
          </a:xfrm>
          <a:prstGeom prst="roundRect">
            <a:avLst>
              <a:gd name="adj" fmla="val 5581"/>
            </a:avLst>
          </a:prstGeom>
          <a:solidFill>
            <a:srgbClr val="F7F8FA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allservices/icons/star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64" y="20894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subscriptions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217920" y="2560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plans &amp; lead-based pricing for high-frequency professionals who want more bookings.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029200" cy="1965960"/>
          </a:xfrm>
          <a:prstGeom prst="roundRect">
            <a:avLst>
              <a:gd name="adj" fmla="val 5581"/>
            </a:avLst>
          </a:prstGeom>
          <a:solidFill>
            <a:srgbClr val="F7F8FA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allservices/icons/bolt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43754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06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&amp; convenience pricing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846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for urgent, same-hour and after-hours requests.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943600" y="3977640"/>
            <a:ext cx="5029200" cy="1965960"/>
          </a:xfrm>
          <a:prstGeom prst="roundRect">
            <a:avLst>
              <a:gd name="adj" fmla="val 5581"/>
            </a:avLst>
          </a:prstGeom>
          <a:solidFill>
            <a:srgbClr val="F7F8FA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17920" y="4251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allservices/icons/hammer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364" y="437540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4206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&amp; bulk contracts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217920" y="484632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Daily-labour and tradesperson contracts for builders, event companies &amp; corporates.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platform connects all of this today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0350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34640" y="178308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Drivers-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on-hire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0" y="178308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178308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Carpenter /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23760" y="178308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0" y="178308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49840" y="178308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&amp;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386584"/>
            <a:ext cx="11064240" cy="603504"/>
          </a:xfrm>
          <a:prstGeom prst="rect">
            <a:avLst/>
          </a:prstGeom>
          <a:solidFill>
            <a:srgbClr val="F7F8FA"/>
          </a:solidFill>
          <a:ln w="6350">
            <a:solidFill>
              <a:srgbClr val="E7EA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86584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Company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34640" y="2386584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pic>
        <p:nvPicPr>
          <p:cNvPr id="15" name="Image 0" descr="/home/claude/allservices/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1067" y="2540203"/>
            <a:ext cx="296266" cy="296266"/>
          </a:xfrm>
          <a:prstGeom prst="rect">
            <a:avLst/>
          </a:prstGeom>
        </p:spPr>
      </p:pic>
      <p:pic>
        <p:nvPicPr>
          <p:cNvPr id="16" name="Image 1" descr="/home/claude/allservices/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107" y="2540203"/>
            <a:ext cx="296266" cy="29626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386584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686800" y="2386584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pic>
        <p:nvPicPr>
          <p:cNvPr id="19" name="Image 2" descr="/home/claude/allservices/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3227" y="2540203"/>
            <a:ext cx="296266" cy="29626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48640" y="2990088"/>
            <a:ext cx="11064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7EAE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31520" y="2990088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Snabbit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2834640" y="2990088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pic>
        <p:nvPicPr>
          <p:cNvPr id="23" name="Image 3" descr="/home/claude/allservices/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067" y="3143707"/>
            <a:ext cx="296266" cy="29626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60720" y="2990088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223760" y="2990088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686800" y="2990088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pic>
        <p:nvPicPr>
          <p:cNvPr id="27" name="Image 4" descr="/home/claude/allservices/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3227" y="3143707"/>
            <a:ext cx="296266" cy="296266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48640" y="3593592"/>
            <a:ext cx="11064240" cy="603504"/>
          </a:xfrm>
          <a:prstGeom prst="rect">
            <a:avLst/>
          </a:prstGeom>
          <a:solidFill>
            <a:srgbClr val="F7F8FA"/>
          </a:solidFill>
          <a:ln w="6350">
            <a:solidFill>
              <a:srgbClr val="E7EAE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731520" y="3593592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/ Driver apps</a:t>
            </a:r>
            <a:endParaRPr lang="en-US" sz="1250" dirty="0"/>
          </a:p>
        </p:txBody>
      </p:sp>
      <p:pic>
        <p:nvPicPr>
          <p:cNvPr id="30" name="Image 5" descr="/home/claude/allservices/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8027" y="3747211"/>
            <a:ext cx="296266" cy="29626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297680" y="3593592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5760720" y="3593592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223760" y="3593592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686800" y="3593592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pic>
        <p:nvPicPr>
          <p:cNvPr id="35" name="Image 6" descr="/home/claude/allservices/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3227" y="3747211"/>
            <a:ext cx="296266" cy="296266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548640" y="4197096"/>
            <a:ext cx="11064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7EAEF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731520" y="4197096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classifieds</a:t>
            </a:r>
            <a:endParaRPr lang="en-US" sz="1250" dirty="0"/>
          </a:p>
        </p:txBody>
      </p:sp>
      <p:pic>
        <p:nvPicPr>
          <p:cNvPr id="38" name="Image 7" descr="/home/claude/allservices/icon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8027" y="4350715"/>
            <a:ext cx="296266" cy="296266"/>
          </a:xfrm>
          <a:prstGeom prst="rect">
            <a:avLst/>
          </a:prstGeom>
        </p:spPr>
      </p:pic>
      <p:pic>
        <p:nvPicPr>
          <p:cNvPr id="39" name="Image 8" descr="/home/claude/allservices/icons/check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1067" y="4350715"/>
            <a:ext cx="296266" cy="296266"/>
          </a:xfrm>
          <a:prstGeom prst="rect">
            <a:avLst/>
          </a:prstGeom>
        </p:spPr>
      </p:pic>
      <p:pic>
        <p:nvPicPr>
          <p:cNvPr id="40" name="Image 9" descr="/home/claude/allservices/icons/check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4107" y="4350715"/>
            <a:ext cx="296266" cy="296266"/>
          </a:xfrm>
          <a:prstGeom prst="rect">
            <a:avLst/>
          </a:prstGeom>
        </p:spPr>
      </p:pic>
      <p:pic>
        <p:nvPicPr>
          <p:cNvPr id="41" name="Image 10" descr="/home/claude/allservices/icons/check_te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07147" y="4350715"/>
            <a:ext cx="296266" cy="296266"/>
          </a:xfrm>
          <a:prstGeom prst="rect">
            <a:avLst/>
          </a:prstGeom>
        </p:spPr>
      </p:pic>
      <p:pic>
        <p:nvPicPr>
          <p:cNvPr id="42" name="Image 11" descr="/home/claude/allservices/icons/check_tea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70187" y="4350715"/>
            <a:ext cx="296266" cy="296266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10149840" y="4197096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4" name="Shape 30"/>
          <p:cNvSpPr/>
          <p:nvPr/>
        </p:nvSpPr>
        <p:spPr>
          <a:xfrm>
            <a:off x="548640" y="4800600"/>
            <a:ext cx="11064240" cy="603504"/>
          </a:xfrm>
          <a:prstGeom prst="rect">
            <a:avLst/>
          </a:prstGeom>
          <a:solidFill>
            <a:srgbClr val="FDECE7"/>
          </a:solidFill>
          <a:ln w="6350">
            <a:solidFill>
              <a:srgbClr val="E7EAEF"/>
            </a:solidFill>
            <a:prstDash val="solid"/>
          </a:ln>
        </p:spPr>
      </p:sp>
      <p:sp>
        <p:nvSpPr>
          <p:cNvPr id="45" name="Text 31"/>
          <p:cNvSpPr/>
          <p:nvPr/>
        </p:nvSpPr>
        <p:spPr>
          <a:xfrm>
            <a:off x="731520" y="4800600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</a:t>
            </a:r>
            <a:endParaRPr lang="en-US" sz="1250" dirty="0"/>
          </a:p>
        </p:txBody>
      </p:sp>
      <p:pic>
        <p:nvPicPr>
          <p:cNvPr id="46" name="Image 12" descr="/home/claude/allservices/icons/check_teal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18027" y="4954219"/>
            <a:ext cx="296266" cy="296266"/>
          </a:xfrm>
          <a:prstGeom prst="rect">
            <a:avLst/>
          </a:prstGeom>
        </p:spPr>
      </p:pic>
      <p:pic>
        <p:nvPicPr>
          <p:cNvPr id="47" name="Image 13" descr="/home/claude/allservices/icons/check_tea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81067" y="4954219"/>
            <a:ext cx="296266" cy="296266"/>
          </a:xfrm>
          <a:prstGeom prst="rect">
            <a:avLst/>
          </a:prstGeom>
        </p:spPr>
      </p:pic>
      <p:pic>
        <p:nvPicPr>
          <p:cNvPr id="48" name="Image 14" descr="/home/claude/allservices/icons/check_teal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4107" y="4954219"/>
            <a:ext cx="296266" cy="296266"/>
          </a:xfrm>
          <a:prstGeom prst="rect">
            <a:avLst/>
          </a:prstGeom>
        </p:spPr>
      </p:pic>
      <p:pic>
        <p:nvPicPr>
          <p:cNvPr id="49" name="Image 15" descr="/home/claude/allservices/icons/check_tea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07147" y="4954219"/>
            <a:ext cx="296266" cy="296266"/>
          </a:xfrm>
          <a:prstGeom prst="rect">
            <a:avLst/>
          </a:prstGeom>
        </p:spPr>
      </p:pic>
      <p:pic>
        <p:nvPicPr>
          <p:cNvPr id="50" name="Image 16" descr="/home/claude/allservices/icons/check_tea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70187" y="4954219"/>
            <a:ext cx="296266" cy="296266"/>
          </a:xfrm>
          <a:prstGeom prst="rect">
            <a:avLst/>
          </a:prstGeom>
        </p:spPr>
      </p:pic>
      <p:pic>
        <p:nvPicPr>
          <p:cNvPr id="51" name="Image 17" descr="/home/claude/allservices/icons/check_tea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33227" y="4954219"/>
            <a:ext cx="296266" cy="296266"/>
          </a:xfrm>
          <a:prstGeom prst="rect">
            <a:avLst/>
          </a:prstGeom>
        </p:spPr>
      </p:pic>
      <p:sp>
        <p:nvSpPr>
          <p:cNvPr id="52" name="Text 32"/>
          <p:cNvSpPr/>
          <p:nvPr/>
        </p:nvSpPr>
        <p:spPr>
          <a:xfrm>
            <a:off x="548640" y="558698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is the only platform designed to combine transport, grooming, skilled trades and legal help under one trust layer.</a:t>
            </a:r>
            <a:endParaRPr lang="en-US" sz="1150" dirty="0"/>
          </a:p>
        </p:txBody>
      </p:sp>
      <p:sp>
        <p:nvSpPr>
          <p:cNvPr id="53" name="Text 3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</a:t>
            </a:r>
            <a:endParaRPr lang="en-US" sz="900" dirty="0"/>
          </a:p>
        </p:txBody>
      </p:sp>
      <p:sp>
        <p:nvSpPr>
          <p:cNvPr id="54" name="Text 3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city to pan-India, category by category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0149840" cy="0"/>
          </a:xfrm>
          <a:prstGeom prst="line">
            <a:avLst/>
          </a:prstGeom>
          <a:noFill/>
          <a:ln w="38100">
            <a:solidFill>
              <a:srgbClr val="E7EA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allservices/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22265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880360"/>
            <a:ext cx="2766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Months 0–3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11480" y="3246120"/>
            <a:ext cx="27660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MVP app. Launch Drivers-on-Hire &amp; Home Barber with ~100 verified providers in one metro city.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06140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allservices/icons/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222656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86100" y="2880360"/>
            <a:ext cx="2766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Months 4–8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086100" y="3246120"/>
            <a:ext cx="27660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Carpenter, Electrician &amp; Daily Labour. Expand to 3 metro cities.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80760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allservices/icons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204" y="222656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60720" y="2880360"/>
            <a:ext cx="2766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Months 9–14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760720" y="3246120"/>
            <a:ext cx="27660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on-demand Legal consultation. Expand to 8–10 Tier-1/2 cities.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755380" y="2103120"/>
            <a:ext cx="548640" cy="5486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8" name="Image 3" descr="/home/claude/allservices/icons/c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4" y="222656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35340" y="2880360"/>
            <a:ext cx="2766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Month 15+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435340" y="3246120"/>
            <a:ext cx="27660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Tier II/III rollout, B2B &amp; bulk contracts, and new service categories.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stage, with the groundwork already done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7F8FA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allservices/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5328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45973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6-category playbook fully mapped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32004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allservices/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2186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14553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 &amp; competitive research complete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14400" y="38862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/home/claude/allservices/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9044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83133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committed full-time to building this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914400" y="45720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/home/claude/allservices/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59028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51713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provider outreach conversations underway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035040" y="178308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1B2A4A"/>
          </a:solidFill>
          <a:ln/>
        </p:spPr>
      </p:sp>
      <p:sp>
        <p:nvSpPr>
          <p:cNvPr id="19" name="Text 13"/>
          <p:cNvSpPr/>
          <p:nvPr/>
        </p:nvSpPr>
        <p:spPr>
          <a:xfrm>
            <a:off x="64008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0" y="2514600"/>
            <a:ext cx="365760" cy="365760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21" name="Image 4" descr="/home/claude/allservices/icons/rocket_cor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2596896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03720" y="245973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on a technical co-founder &amp; finalize product architecture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400800" y="3200400"/>
            <a:ext cx="365760" cy="365760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24" name="Image 5" descr="/home/claude/allservices/icons/rocket_cor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3282696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03720" y="314553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ship the MVP (customer + provider apps)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400800" y="3886200"/>
            <a:ext cx="365760" cy="365760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27" name="Image 6" descr="/home/claude/allservices/icons/rocket_cor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96" y="3968496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03720" y="383133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the first 50 verified providers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6400800" y="4572000"/>
            <a:ext cx="365760" cy="365760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30" name="Image 7" descr="/home/claude/allservices/icons/rocket_cor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3096" y="4654296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903720" y="451713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launch Drivers-on-Hire &amp; Home Barber in one city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for a Co-Founder to build this with us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7F8FA"/>
          </a:solidFill>
          <a:ln w="12700">
            <a:solidFill>
              <a:srgbClr val="E7EA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allservices/icons/tie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557" y="217055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bring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83464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26517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category playbook &amp; go-to-market plan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3493008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31012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On-ground provider relationships &amp; market research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" y="4151376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396849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commitment and hands-on hustle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4809744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626864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seed capital for early operations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1783080"/>
            <a:ext cx="5577840" cy="3931920"/>
          </a:xfrm>
          <a:prstGeom prst="roundRect">
            <a:avLst>
              <a:gd name="adj" fmla="val 2791"/>
            </a:avLst>
          </a:prstGeom>
          <a:solidFill>
            <a:srgbClr val="1B2A4A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0" y="2057400"/>
            <a:ext cx="502920" cy="502920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18" name="Image 1" descr="/home/claude/allservices/icons/code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957" y="2170557"/>
            <a:ext cx="276606" cy="27660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need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400800" y="283464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1" name="Text 17"/>
          <p:cNvSpPr/>
          <p:nvPr/>
        </p:nvSpPr>
        <p:spPr>
          <a:xfrm>
            <a:off x="6675120" y="2651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Co-Founder / CTO to lead product &amp; engineering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00800" y="3493008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3" name="Text 19"/>
          <p:cNvSpPr/>
          <p:nvPr/>
        </p:nvSpPr>
        <p:spPr>
          <a:xfrm>
            <a:off x="6675120" y="331012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of the consumer + provider app architecture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00800" y="4151376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5" name="Text 21"/>
          <p:cNvSpPr/>
          <p:nvPr/>
        </p:nvSpPr>
        <p:spPr>
          <a:xfrm>
            <a:off x="6675120" y="39684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build scalable ops-tech: matching, verification, payments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00800" y="4809744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7" name="Text 23"/>
          <p:cNvSpPr/>
          <p:nvPr/>
        </p:nvSpPr>
        <p:spPr>
          <a:xfrm>
            <a:off x="6675120" y="462686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wants to build a category-defining company, not just an app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Meaningful, negotiable founder equity — based on role, contribution and long-term commitment.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1264" y="1188720"/>
            <a:ext cx="1097280" cy="1097280"/>
          </a:xfrm>
          <a:prstGeom prst="ellipse">
            <a:avLst/>
          </a:prstGeom>
          <a:solidFill>
            <a:srgbClr val="22314F"/>
          </a:solidFill>
          <a:ln/>
        </p:spPr>
      </p:sp>
      <p:pic>
        <p:nvPicPr>
          <p:cNvPr id="3" name="Image 0" descr="/home/claude/allservices/icons/handshake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1435608"/>
            <a:ext cx="603504" cy="603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books everything else on demand.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everyone who drives, fixes, and builds your world?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ALL SERVICES — together.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114800" y="5120640"/>
            <a:ext cx="3931920" cy="0"/>
          </a:xfrm>
          <a:prstGeom prst="line">
            <a:avLst/>
          </a:prstGeom>
          <a:noFill/>
          <a:ln w="12700">
            <a:solidFill>
              <a:srgbClr val="2C3E5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 ·   [email address]   ·   [phone number]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2026-08-22T06:15:14Z</dcterms:created>
  <dcterms:modified xsi:type="dcterms:W3CDTF">2026-08-22T06:15:14Z</dcterms:modified>
</cp:coreProperties>
</file>